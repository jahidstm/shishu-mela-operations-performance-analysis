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Arimo Bold Italics" panose="020B0604020202020204" charset="0"/>
      <p:regular r:id="rId13"/>
    </p:embeddedFont>
    <p:embeddedFont>
      <p:font typeface="Arimo Italics" panose="020B0604020202020204" charset="0"/>
      <p:regular r:id="rId14"/>
    </p:embeddedFont>
    <p:embeddedFont>
      <p:font typeface="PT Serif" panose="020A0603040505020204" pitchFamily="18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1.png"/><Relationship Id="rId4" Type="http://schemas.openxmlformats.org/officeDocument/2006/relationships/image" Target="../media/image19.svg"/><Relationship Id="rId9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446501" y="363211"/>
            <a:ext cx="2528597" cy="665489"/>
            <a:chOff x="0" y="0"/>
            <a:chExt cx="1388260" cy="3653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3"/>
              <a:stretch>
                <a:fillRect t="-344" b="-34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127299" y="2426104"/>
            <a:ext cx="12033401" cy="255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7"/>
              </a:lnSpc>
            </a:pPr>
            <a:r>
              <a:rPr lang="en-US" sz="8000" b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Statistical Analysis of Shishu Mela Operations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21238" y="6216608"/>
            <a:ext cx="9445523" cy="2321423"/>
            <a:chOff x="0" y="0"/>
            <a:chExt cx="12594031" cy="309523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04775"/>
              <a:ext cx="12594031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1E3063"/>
                  </a:solidFill>
                  <a:latin typeface="Arimo"/>
                  <a:ea typeface="Arimo"/>
                  <a:cs typeface="Arimo"/>
                  <a:sym typeface="Arimo"/>
                </a:rPr>
                <a:t>Course Title: </a:t>
              </a:r>
              <a:r>
                <a:rPr lang="en-US" sz="2187">
                  <a:solidFill>
                    <a:srgbClr val="0540AD"/>
                  </a:solidFill>
                  <a:latin typeface="Arimo"/>
                  <a:ea typeface="Arimo"/>
                  <a:cs typeface="Arimo"/>
                  <a:sym typeface="Arimo"/>
                </a:rPr>
                <a:t>Management Information System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25316"/>
              <a:ext cx="12594031" cy="542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1E3063"/>
                  </a:solidFill>
                  <a:latin typeface="Arimo"/>
                  <a:ea typeface="Arimo"/>
                  <a:cs typeface="Arimo"/>
                  <a:sym typeface="Arimo"/>
                </a:rPr>
                <a:t>Submitted by: </a:t>
              </a:r>
              <a:r>
                <a:rPr lang="en-US" sz="2187">
                  <a:solidFill>
                    <a:srgbClr val="0540AD"/>
                  </a:solidFill>
                  <a:latin typeface="Arimo"/>
                  <a:ea typeface="Arimo"/>
                  <a:cs typeface="Arimo"/>
                  <a:sym typeface="Arimo"/>
                </a:rPr>
                <a:t>Jahid Hasan ID- 0242310005341038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55406"/>
              <a:ext cx="12594031" cy="1139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2"/>
                </a:lnSpc>
              </a:pPr>
              <a:r>
                <a:rPr lang="en-US" sz="2187">
                  <a:solidFill>
                    <a:srgbClr val="1E3063"/>
                  </a:solidFill>
                  <a:latin typeface="Arimo"/>
                  <a:ea typeface="Arimo"/>
                  <a:cs typeface="Arimo"/>
                  <a:sym typeface="Arimo"/>
                </a:rPr>
                <a:t>Submitted to: </a:t>
              </a:r>
              <a:r>
                <a:rPr lang="en-US" sz="2187">
                  <a:solidFill>
                    <a:srgbClr val="0540AD"/>
                  </a:solidFill>
                  <a:latin typeface="Arimo"/>
                  <a:ea typeface="Arimo"/>
                  <a:cs typeface="Arimo"/>
                  <a:sym typeface="Arimo"/>
                </a:rPr>
                <a:t>Dr. Imran Mahmud, Head &amp; Associate Professor, Department of Software Engineering, Daffodil International University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7200900" cy="10287000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50238" y="3628130"/>
            <a:ext cx="4609357" cy="3328245"/>
            <a:chOff x="0" y="0"/>
            <a:chExt cx="6145809" cy="44376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5784" cy="4437634"/>
            </a:xfrm>
            <a:custGeom>
              <a:avLst/>
              <a:gdLst/>
              <a:ahLst/>
              <a:cxnLst/>
              <a:rect l="l" t="t" r="r" b="b"/>
              <a:pathLst>
                <a:path w="6145784" h="4437634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5873623" y="0"/>
                  </a:lnTo>
                  <a:cubicBezTo>
                    <a:pt x="6023991" y="0"/>
                    <a:pt x="6145784" y="121920"/>
                    <a:pt x="6145784" y="272161"/>
                  </a:cubicBezTo>
                  <a:lnTo>
                    <a:pt x="6145784" y="4165473"/>
                  </a:lnTo>
                  <a:cubicBezTo>
                    <a:pt x="6145784" y="4315841"/>
                    <a:pt x="6023864" y="4437634"/>
                    <a:pt x="5873623" y="4437634"/>
                  </a:cubicBezTo>
                  <a:lnTo>
                    <a:pt x="272161" y="4437634"/>
                  </a:lnTo>
                  <a:cubicBezTo>
                    <a:pt x="121920" y="4437634"/>
                    <a:pt x="0" y="4315841"/>
                    <a:pt x="0" y="4165473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077048" y="3854948"/>
            <a:ext cx="680447" cy="680447"/>
            <a:chOff x="0" y="0"/>
            <a:chExt cx="907263" cy="9072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 descr="preencoded.png"/>
          <p:cNvSpPr/>
          <p:nvPr/>
        </p:nvSpPr>
        <p:spPr>
          <a:xfrm>
            <a:off x="8264128" y="4042019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2686405" y="3628130"/>
            <a:ext cx="4609357" cy="3328245"/>
            <a:chOff x="0" y="0"/>
            <a:chExt cx="6145809" cy="44376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45784" cy="4437634"/>
            </a:xfrm>
            <a:custGeom>
              <a:avLst/>
              <a:gdLst/>
              <a:ahLst/>
              <a:cxnLst/>
              <a:rect l="l" t="t" r="r" b="b"/>
              <a:pathLst>
                <a:path w="6145784" h="4437634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5873623" y="0"/>
                  </a:lnTo>
                  <a:cubicBezTo>
                    <a:pt x="6023991" y="0"/>
                    <a:pt x="6145784" y="121920"/>
                    <a:pt x="6145784" y="272161"/>
                  </a:cubicBezTo>
                  <a:lnTo>
                    <a:pt x="6145784" y="4165473"/>
                  </a:lnTo>
                  <a:cubicBezTo>
                    <a:pt x="6145784" y="4315841"/>
                    <a:pt x="6023864" y="4437634"/>
                    <a:pt x="5873623" y="4437634"/>
                  </a:cubicBezTo>
                  <a:lnTo>
                    <a:pt x="272161" y="4437634"/>
                  </a:lnTo>
                  <a:cubicBezTo>
                    <a:pt x="121920" y="4437634"/>
                    <a:pt x="0" y="4315841"/>
                    <a:pt x="0" y="4165473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913223" y="3854948"/>
            <a:ext cx="680447" cy="680447"/>
            <a:chOff x="0" y="0"/>
            <a:chExt cx="907263" cy="9072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000E2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Freeform 16" descr="preencoded.png"/>
          <p:cNvSpPr/>
          <p:nvPr/>
        </p:nvSpPr>
        <p:spPr>
          <a:xfrm>
            <a:off x="13100294" y="4042019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545" b="-4545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7850238" y="7183193"/>
            <a:ext cx="9445523" cy="2214115"/>
            <a:chOff x="0" y="0"/>
            <a:chExt cx="12594031" cy="29521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93955" cy="2952115"/>
            </a:xfrm>
            <a:custGeom>
              <a:avLst/>
              <a:gdLst/>
              <a:ahLst/>
              <a:cxnLst/>
              <a:rect l="l" t="t" r="r" b="b"/>
              <a:pathLst>
                <a:path w="12593955" h="2952115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2321794" y="0"/>
                  </a:lnTo>
                  <a:cubicBezTo>
                    <a:pt x="12472162" y="0"/>
                    <a:pt x="12593955" y="121920"/>
                    <a:pt x="12593955" y="272161"/>
                  </a:cubicBezTo>
                  <a:lnTo>
                    <a:pt x="12593955" y="2679954"/>
                  </a:lnTo>
                  <a:cubicBezTo>
                    <a:pt x="12593955" y="2830322"/>
                    <a:pt x="12472035" y="2952115"/>
                    <a:pt x="12321794" y="2952115"/>
                  </a:cubicBezTo>
                  <a:lnTo>
                    <a:pt x="272161" y="2952115"/>
                  </a:lnTo>
                  <a:cubicBezTo>
                    <a:pt x="121920" y="2952115"/>
                    <a:pt x="0" y="2830322"/>
                    <a:pt x="0" y="2679954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077048" y="7410002"/>
            <a:ext cx="680447" cy="680447"/>
            <a:chOff x="0" y="0"/>
            <a:chExt cx="907263" cy="9072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CDDA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Freeform 21" descr="preencoded.png"/>
          <p:cNvSpPr/>
          <p:nvPr/>
        </p:nvSpPr>
        <p:spPr>
          <a:xfrm>
            <a:off x="8264128" y="7597083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4545" b="-4545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0" y="0"/>
            <a:ext cx="7173963" cy="10287000"/>
            <a:chOff x="0" y="0"/>
            <a:chExt cx="728574" cy="10447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8574" cy="1044728"/>
            </a:xfrm>
            <a:custGeom>
              <a:avLst/>
              <a:gdLst/>
              <a:ahLst/>
              <a:cxnLst/>
              <a:rect l="l" t="t" r="r" b="b"/>
              <a:pathLst>
                <a:path w="728574" h="1044728">
                  <a:moveTo>
                    <a:pt x="0" y="0"/>
                  </a:moveTo>
                  <a:lnTo>
                    <a:pt x="728574" y="0"/>
                  </a:lnTo>
                  <a:lnTo>
                    <a:pt x="728574" y="1044728"/>
                  </a:lnTo>
                  <a:lnTo>
                    <a:pt x="0" y="1044728"/>
                  </a:lnTo>
                  <a:close/>
                </a:path>
              </a:pathLst>
            </a:custGeom>
            <a:blipFill>
              <a:blip r:embed="rId10"/>
              <a:stretch>
                <a:fillRect t="-5967" b="-5967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850238" y="851592"/>
            <a:ext cx="9445523" cy="1455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Dataset Overview: Shishu Mela Operations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50238" y="2552109"/>
            <a:ext cx="9445523" cy="82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Our analysis is based on a simulated dataset representing visitor activities at a children's fair (Shishu Mela).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77048" y="4733630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Total Data Points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77048" y="5195440"/>
            <a:ext cx="4155729" cy="1035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7"/>
              </a:lnSpc>
            </a:pPr>
            <a:r>
              <a:rPr lang="en-US" sz="6124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200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77048" y="6271470"/>
            <a:ext cx="4155729" cy="45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Visitor Observations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13222" y="4733630"/>
            <a:ext cx="3241177" cy="333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 dirty="0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Key Variables </a:t>
            </a:r>
            <a:r>
              <a:rPr lang="en-US" sz="2187" b="1" dirty="0" err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Analysed</a:t>
            </a:r>
            <a:endParaRPr lang="en-US" sz="2187" b="1" dirty="0">
              <a:solidFill>
                <a:srgbClr val="1E3063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913223" y="5157340"/>
            <a:ext cx="4155729" cy="45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Age &amp; Gender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13223" y="5599509"/>
            <a:ext cx="4155729" cy="45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Ride Name &amp; Ticket Price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13223" y="6041679"/>
            <a:ext cx="4155729" cy="45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922" lvl="1" indent="-131961" algn="l">
              <a:lnSpc>
                <a:spcPts val="2812"/>
              </a:lnSpc>
              <a:buFont typeface="Arial"/>
              <a:buChar char="•"/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Visitor Satisfaction Score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77048" y="8288684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Data Source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77048" y="8712403"/>
            <a:ext cx="8991895" cy="45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Simulated Dataset based on hypothetical operational metrics.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6041598" y="120323"/>
            <a:ext cx="2054709" cy="540769"/>
            <a:chOff x="0" y="0"/>
            <a:chExt cx="1388260" cy="36536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11"/>
              <a:stretch>
                <a:fillRect t="-68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-23884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20813" y="2911820"/>
            <a:ext cx="8031213" cy="1825971"/>
            <a:chOff x="0" y="0"/>
            <a:chExt cx="10708284" cy="24346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08260" cy="2434590"/>
            </a:xfrm>
            <a:custGeom>
              <a:avLst/>
              <a:gdLst/>
              <a:ahLst/>
              <a:cxnLst/>
              <a:rect l="l" t="t" r="r" b="b"/>
              <a:pathLst>
                <a:path w="10708260" h="243459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25379" y="0"/>
                  </a:lnTo>
                  <a:cubicBezTo>
                    <a:pt x="10626344" y="0"/>
                    <a:pt x="10708260" y="81915"/>
                    <a:pt x="10708260" y="182880"/>
                  </a:cubicBezTo>
                  <a:lnTo>
                    <a:pt x="10708260" y="2251710"/>
                  </a:lnTo>
                  <a:cubicBezTo>
                    <a:pt x="10708260" y="2352675"/>
                    <a:pt x="10626344" y="2434590"/>
                    <a:pt x="10525379" y="2434590"/>
                  </a:cubicBezTo>
                  <a:lnTo>
                    <a:pt x="182880" y="2434590"/>
                  </a:lnTo>
                  <a:cubicBezTo>
                    <a:pt x="81915" y="2434590"/>
                    <a:pt x="0" y="2352802"/>
                    <a:pt x="0" y="22517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264401" y="2893071"/>
            <a:ext cx="8031366" cy="1825971"/>
            <a:chOff x="0" y="0"/>
            <a:chExt cx="10708488" cy="2434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08513" cy="2434590"/>
            </a:xfrm>
            <a:custGeom>
              <a:avLst/>
              <a:gdLst/>
              <a:ahLst/>
              <a:cxnLst/>
              <a:rect l="l" t="t" r="r" b="b"/>
              <a:pathLst>
                <a:path w="10708513" h="243459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25633" y="0"/>
                  </a:lnTo>
                  <a:cubicBezTo>
                    <a:pt x="10626598" y="0"/>
                    <a:pt x="10708513" y="81915"/>
                    <a:pt x="10708513" y="182880"/>
                  </a:cubicBezTo>
                  <a:lnTo>
                    <a:pt x="10708513" y="2251710"/>
                  </a:lnTo>
                  <a:cubicBezTo>
                    <a:pt x="10708513" y="2352675"/>
                    <a:pt x="10626598" y="2434590"/>
                    <a:pt x="10525633" y="2434590"/>
                  </a:cubicBezTo>
                  <a:lnTo>
                    <a:pt x="182880" y="2434590"/>
                  </a:lnTo>
                  <a:cubicBezTo>
                    <a:pt x="81915" y="2434590"/>
                    <a:pt x="0" y="2352802"/>
                    <a:pt x="0" y="22517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92238" y="4546478"/>
            <a:ext cx="28575" cy="1831334"/>
            <a:chOff x="0" y="0"/>
            <a:chExt cx="38100" cy="24417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" cy="2441829"/>
            </a:xfrm>
            <a:custGeom>
              <a:avLst/>
              <a:gdLst/>
              <a:ahLst/>
              <a:cxnLst/>
              <a:rect l="l" t="t" r="r" b="b"/>
              <a:pathLst>
                <a:path w="38100" h="2441829">
                  <a:moveTo>
                    <a:pt x="0" y="0"/>
                  </a:moveTo>
                  <a:lnTo>
                    <a:pt x="38100" y="0"/>
                  </a:lnTo>
                  <a:lnTo>
                    <a:pt x="38100" y="2441829"/>
                  </a:lnTo>
                  <a:lnTo>
                    <a:pt x="0" y="2441829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392910" y="4860507"/>
            <a:ext cx="6248667" cy="5426391"/>
            <a:chOff x="0" y="0"/>
            <a:chExt cx="836294" cy="7262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6294" cy="726244"/>
            </a:xfrm>
            <a:custGeom>
              <a:avLst/>
              <a:gdLst/>
              <a:ahLst/>
              <a:cxnLst/>
              <a:rect l="l" t="t" r="r" b="b"/>
              <a:pathLst>
                <a:path w="836294" h="726244">
                  <a:moveTo>
                    <a:pt x="0" y="0"/>
                  </a:moveTo>
                  <a:lnTo>
                    <a:pt x="836294" y="0"/>
                  </a:lnTo>
                  <a:lnTo>
                    <a:pt x="836294" y="726244"/>
                  </a:lnTo>
                  <a:lnTo>
                    <a:pt x="0" y="726244"/>
                  </a:lnTo>
                  <a:close/>
                </a:path>
              </a:pathLst>
            </a:custGeom>
            <a:blipFill>
              <a:blip r:embed="rId3"/>
              <a:stretch>
                <a:fillRect t="-423" b="-42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92238" y="856355"/>
            <a:ext cx="13771064" cy="80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Card 3: One-Sample t-test on Visitor Satisfaction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4" y="2151978"/>
            <a:ext cx="8031213" cy="723005"/>
            <a:chOff x="0" y="0"/>
            <a:chExt cx="10708284" cy="964006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443916"/>
              <a:ext cx="10708284" cy="152400"/>
              <a:chOff x="0" y="0"/>
              <a:chExt cx="10708284" cy="152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70825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0708259" h="1524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10632059" y="0"/>
                    </a:lnTo>
                    <a:cubicBezTo>
                      <a:pt x="10674096" y="0"/>
                      <a:pt x="10708259" y="34163"/>
                      <a:pt x="10708259" y="76200"/>
                    </a:cubicBezTo>
                    <a:cubicBezTo>
                      <a:pt x="10708259" y="118237"/>
                      <a:pt x="10674096" y="152400"/>
                      <a:pt x="10632059" y="152400"/>
                    </a:cubicBezTo>
                    <a:lnTo>
                      <a:pt x="76200" y="152400"/>
                    </a:lnTo>
                    <a:cubicBezTo>
                      <a:pt x="34163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84C1FA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4872038" y="0"/>
              <a:ext cx="964006" cy="964006"/>
              <a:chOff x="0" y="0"/>
              <a:chExt cx="964006" cy="96400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64057" cy="964057"/>
              </a:xfrm>
              <a:custGeom>
                <a:avLst/>
                <a:gdLst/>
                <a:ahLst/>
                <a:cxnLst/>
                <a:rect l="l" t="t" r="r" b="b"/>
                <a:pathLst>
                  <a:path w="964057" h="964057">
                    <a:moveTo>
                      <a:pt x="0" y="481965"/>
                    </a:moveTo>
                    <a:cubicBezTo>
                      <a:pt x="0" y="215773"/>
                      <a:pt x="215773" y="0"/>
                      <a:pt x="481965" y="0"/>
                    </a:cubicBezTo>
                    <a:cubicBezTo>
                      <a:pt x="748157" y="0"/>
                      <a:pt x="964057" y="215773"/>
                      <a:pt x="964057" y="481965"/>
                    </a:cubicBezTo>
                    <a:cubicBezTo>
                      <a:pt x="964057" y="748157"/>
                      <a:pt x="748157" y="964057"/>
                      <a:pt x="481965" y="964057"/>
                    </a:cubicBezTo>
                    <a:cubicBezTo>
                      <a:pt x="215773" y="964057"/>
                      <a:pt x="0" y="748157"/>
                      <a:pt x="0" y="481965"/>
                    </a:cubicBezTo>
                    <a:close/>
                  </a:path>
                </a:pathLst>
              </a:custGeom>
              <a:solidFill>
                <a:srgbClr val="84C1FA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161153" y="136131"/>
              <a:ext cx="385559" cy="586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61762" y="3077847"/>
            <a:ext cx="3384499" cy="38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Null Hypothesis (</a:t>
            </a:r>
            <a:r>
              <a:rPr lang="en-US" sz="2312" b="1" i="1">
                <a:solidFill>
                  <a:srgbClr val="1E3063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H_0</a:t>
            </a:r>
            <a:r>
              <a:rPr lang="en-US" sz="231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1762" y="3560936"/>
            <a:ext cx="7492155" cy="49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Visitors are </a:t>
            </a:r>
            <a:r>
              <a:rPr lang="en-US" sz="1874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not</a:t>
            </a:r>
            <a:r>
              <a:rPr lang="en-US" sz="187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 generally satisfied.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64401" y="2151978"/>
            <a:ext cx="8031366" cy="723005"/>
            <a:chOff x="0" y="0"/>
            <a:chExt cx="10708488" cy="964006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443916"/>
              <a:ext cx="10708488" cy="152400"/>
              <a:chOff x="0" y="0"/>
              <a:chExt cx="10708488" cy="152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70851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0708513" h="1524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10632313" y="0"/>
                    </a:lnTo>
                    <a:cubicBezTo>
                      <a:pt x="10674350" y="0"/>
                      <a:pt x="10708513" y="34163"/>
                      <a:pt x="10708513" y="76200"/>
                    </a:cubicBezTo>
                    <a:cubicBezTo>
                      <a:pt x="10708513" y="118237"/>
                      <a:pt x="10674350" y="152400"/>
                      <a:pt x="10632313" y="152400"/>
                    </a:cubicBezTo>
                    <a:lnTo>
                      <a:pt x="76200" y="152400"/>
                    </a:lnTo>
                    <a:cubicBezTo>
                      <a:pt x="34163" y="152400"/>
                      <a:pt x="0" y="118237"/>
                      <a:pt x="0" y="76200"/>
                    </a:cubicBezTo>
                    <a:close/>
                  </a:path>
                </a:pathLst>
              </a:custGeom>
              <a:solidFill>
                <a:srgbClr val="84C1FA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4872228" y="0"/>
              <a:ext cx="964006" cy="964006"/>
              <a:chOff x="0" y="0"/>
              <a:chExt cx="964006" cy="9640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64057" cy="964057"/>
              </a:xfrm>
              <a:custGeom>
                <a:avLst/>
                <a:gdLst/>
                <a:ahLst/>
                <a:cxnLst/>
                <a:rect l="l" t="t" r="r" b="b"/>
                <a:pathLst>
                  <a:path w="964057" h="964057">
                    <a:moveTo>
                      <a:pt x="0" y="481965"/>
                    </a:moveTo>
                    <a:cubicBezTo>
                      <a:pt x="0" y="215773"/>
                      <a:pt x="215773" y="0"/>
                      <a:pt x="481965" y="0"/>
                    </a:cubicBezTo>
                    <a:cubicBezTo>
                      <a:pt x="748157" y="0"/>
                      <a:pt x="964057" y="215773"/>
                      <a:pt x="964057" y="481965"/>
                    </a:cubicBezTo>
                    <a:cubicBezTo>
                      <a:pt x="964057" y="748157"/>
                      <a:pt x="748157" y="964057"/>
                      <a:pt x="481965" y="964057"/>
                    </a:cubicBezTo>
                    <a:cubicBezTo>
                      <a:pt x="215773" y="964057"/>
                      <a:pt x="0" y="748157"/>
                      <a:pt x="0" y="481965"/>
                    </a:cubicBezTo>
                    <a:close/>
                  </a:path>
                </a:pathLst>
              </a:custGeom>
              <a:solidFill>
                <a:srgbClr val="84C1FA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161356" y="136131"/>
              <a:ext cx="385559" cy="586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24"/>
                </a:lnSpc>
              </a:pPr>
              <a:r>
                <a:rPr lang="en-US" sz="224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533930" y="3077847"/>
            <a:ext cx="4107647" cy="38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Alternative Hypothesis (</a:t>
            </a:r>
            <a:r>
              <a:rPr lang="en-US" sz="2312" b="1" i="1">
                <a:solidFill>
                  <a:srgbClr val="1E3063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H_a</a:t>
            </a:r>
            <a:r>
              <a:rPr lang="en-US" sz="231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33930" y="3560936"/>
            <a:ext cx="7492308" cy="50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Visitors are generally satisfied (Mean Satisfaction </a:t>
            </a:r>
            <a:r>
              <a:rPr lang="en-US" sz="1874" i="1">
                <a:solidFill>
                  <a:srgbClr val="1E3063"/>
                </a:solidFill>
                <a:latin typeface="Arimo Italics"/>
                <a:ea typeface="Arimo Italics"/>
                <a:cs typeface="Arimo Italics"/>
                <a:sym typeface="Arimo Italics"/>
              </a:rPr>
              <a:t>\neq</a:t>
            </a:r>
            <a:r>
              <a:rPr lang="en-US" sz="187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 Threshold).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3741" y="4879405"/>
            <a:ext cx="5366147" cy="48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SPSS Output: One-Sample Test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041598" y="120323"/>
            <a:ext cx="2054709" cy="540769"/>
            <a:chOff x="0" y="0"/>
            <a:chExt cx="1388260" cy="36536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4"/>
              <a:stretch>
                <a:fillRect t="-68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2042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84942" y="1743227"/>
            <a:ext cx="9502083" cy="58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 dirty="0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Gender Differences in Visitor Spending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895698" y="4127154"/>
            <a:ext cx="28575" cy="4976812"/>
            <a:chOff x="0" y="0"/>
            <a:chExt cx="38100" cy="66357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" cy="6635750"/>
            </a:xfrm>
            <a:custGeom>
              <a:avLst/>
              <a:gdLst/>
              <a:ahLst/>
              <a:cxnLst/>
              <a:rect l="l" t="t" r="r" b="b"/>
              <a:pathLst>
                <a:path w="38100" h="663575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616700"/>
                  </a:lnTo>
                  <a:cubicBezTo>
                    <a:pt x="38100" y="6627241"/>
                    <a:pt x="29591" y="6635750"/>
                    <a:pt x="19050" y="6635750"/>
                  </a:cubicBezTo>
                  <a:cubicBezTo>
                    <a:pt x="8509" y="6635750"/>
                    <a:pt x="0" y="6627241"/>
                    <a:pt x="0" y="661670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32097" y="4397721"/>
            <a:ext cx="506463" cy="28575"/>
            <a:chOff x="0" y="0"/>
            <a:chExt cx="675284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5259" cy="38100"/>
            </a:xfrm>
            <a:custGeom>
              <a:avLst/>
              <a:gdLst/>
              <a:ahLst/>
              <a:cxnLst/>
              <a:rect l="l" t="t" r="r" b="b"/>
              <a:pathLst>
                <a:path w="67525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6209" y="0"/>
                  </a:lnTo>
                  <a:cubicBezTo>
                    <a:pt x="666750" y="0"/>
                    <a:pt x="675259" y="8509"/>
                    <a:pt x="675259" y="19050"/>
                  </a:cubicBezTo>
                  <a:cubicBezTo>
                    <a:pt x="675259" y="29591"/>
                    <a:pt x="666750" y="38100"/>
                    <a:pt x="65620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815040" y="4317054"/>
            <a:ext cx="189909" cy="189909"/>
            <a:chOff x="0" y="0"/>
            <a:chExt cx="253213" cy="2532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3238" cy="253238"/>
            </a:xfrm>
            <a:custGeom>
              <a:avLst/>
              <a:gdLst/>
              <a:ahLst/>
              <a:cxnLst/>
              <a:rect l="l" t="t" r="r" b="b"/>
              <a:pathLst>
                <a:path w="253238" h="253238">
                  <a:moveTo>
                    <a:pt x="0" y="126619"/>
                  </a:moveTo>
                  <a:cubicBezTo>
                    <a:pt x="0" y="56642"/>
                    <a:pt x="56642" y="0"/>
                    <a:pt x="126619" y="0"/>
                  </a:cubicBezTo>
                  <a:cubicBezTo>
                    <a:pt x="196596" y="0"/>
                    <a:pt x="253238" y="56642"/>
                    <a:pt x="253238" y="126619"/>
                  </a:cubicBezTo>
                  <a:cubicBezTo>
                    <a:pt x="253238" y="196596"/>
                    <a:pt x="196596" y="253238"/>
                    <a:pt x="126619" y="253238"/>
                  </a:cubicBezTo>
                  <a:cubicBezTo>
                    <a:pt x="56642" y="253238"/>
                    <a:pt x="0" y="196469"/>
                    <a:pt x="0" y="126619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881410" y="5917254"/>
            <a:ext cx="506463" cy="28575"/>
            <a:chOff x="0" y="0"/>
            <a:chExt cx="675284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5259" cy="38100"/>
            </a:xfrm>
            <a:custGeom>
              <a:avLst/>
              <a:gdLst/>
              <a:ahLst/>
              <a:cxnLst/>
              <a:rect l="l" t="t" r="r" b="b"/>
              <a:pathLst>
                <a:path w="67525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6209" y="0"/>
                  </a:lnTo>
                  <a:cubicBezTo>
                    <a:pt x="666750" y="0"/>
                    <a:pt x="675259" y="8509"/>
                    <a:pt x="675259" y="19050"/>
                  </a:cubicBezTo>
                  <a:cubicBezTo>
                    <a:pt x="675259" y="29591"/>
                    <a:pt x="666750" y="38100"/>
                    <a:pt x="65620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815040" y="5836596"/>
            <a:ext cx="189909" cy="189909"/>
            <a:chOff x="0" y="0"/>
            <a:chExt cx="253213" cy="2532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3238" cy="253238"/>
            </a:xfrm>
            <a:custGeom>
              <a:avLst/>
              <a:gdLst/>
              <a:ahLst/>
              <a:cxnLst/>
              <a:rect l="l" t="t" r="r" b="b"/>
              <a:pathLst>
                <a:path w="253238" h="253238">
                  <a:moveTo>
                    <a:pt x="0" y="126619"/>
                  </a:moveTo>
                  <a:cubicBezTo>
                    <a:pt x="0" y="56642"/>
                    <a:pt x="56642" y="0"/>
                    <a:pt x="126619" y="0"/>
                  </a:cubicBezTo>
                  <a:cubicBezTo>
                    <a:pt x="196596" y="0"/>
                    <a:pt x="253238" y="56642"/>
                    <a:pt x="253238" y="126619"/>
                  </a:cubicBezTo>
                  <a:cubicBezTo>
                    <a:pt x="253238" y="196596"/>
                    <a:pt x="196596" y="253238"/>
                    <a:pt x="126619" y="253238"/>
                  </a:cubicBezTo>
                  <a:cubicBezTo>
                    <a:pt x="56642" y="253238"/>
                    <a:pt x="0" y="196469"/>
                    <a:pt x="0" y="126619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432097" y="7261022"/>
            <a:ext cx="506463" cy="28575"/>
            <a:chOff x="0" y="0"/>
            <a:chExt cx="675284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5259" cy="38100"/>
            </a:xfrm>
            <a:custGeom>
              <a:avLst/>
              <a:gdLst/>
              <a:ahLst/>
              <a:cxnLst/>
              <a:rect l="l" t="t" r="r" b="b"/>
              <a:pathLst>
                <a:path w="675259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6209" y="0"/>
                  </a:lnTo>
                  <a:cubicBezTo>
                    <a:pt x="666750" y="0"/>
                    <a:pt x="675259" y="8509"/>
                    <a:pt x="675259" y="19050"/>
                  </a:cubicBezTo>
                  <a:cubicBezTo>
                    <a:pt x="675259" y="29591"/>
                    <a:pt x="666750" y="38100"/>
                    <a:pt x="65620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815040" y="7180364"/>
            <a:ext cx="189909" cy="189909"/>
            <a:chOff x="0" y="0"/>
            <a:chExt cx="253213" cy="2532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3238" cy="253238"/>
            </a:xfrm>
            <a:custGeom>
              <a:avLst/>
              <a:gdLst/>
              <a:ahLst/>
              <a:cxnLst/>
              <a:rect l="l" t="t" r="r" b="b"/>
              <a:pathLst>
                <a:path w="253238" h="253238">
                  <a:moveTo>
                    <a:pt x="0" y="126619"/>
                  </a:moveTo>
                  <a:cubicBezTo>
                    <a:pt x="0" y="56642"/>
                    <a:pt x="56642" y="0"/>
                    <a:pt x="126619" y="0"/>
                  </a:cubicBezTo>
                  <a:cubicBezTo>
                    <a:pt x="196596" y="0"/>
                    <a:pt x="253238" y="56642"/>
                    <a:pt x="253238" y="126619"/>
                  </a:cubicBezTo>
                  <a:cubicBezTo>
                    <a:pt x="253238" y="196596"/>
                    <a:pt x="196596" y="253238"/>
                    <a:pt x="126619" y="253238"/>
                  </a:cubicBezTo>
                  <a:cubicBezTo>
                    <a:pt x="56642" y="253238"/>
                    <a:pt x="0" y="196469"/>
                    <a:pt x="0" y="126619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019773" y="5917254"/>
            <a:ext cx="28575" cy="2269779"/>
            <a:chOff x="0" y="0"/>
            <a:chExt cx="38100" cy="30263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100" cy="3026410"/>
            </a:xfrm>
            <a:custGeom>
              <a:avLst/>
              <a:gdLst/>
              <a:ahLst/>
              <a:cxnLst/>
              <a:rect l="l" t="t" r="r" b="b"/>
              <a:pathLst>
                <a:path w="38100" h="3026410">
                  <a:moveTo>
                    <a:pt x="0" y="0"/>
                  </a:moveTo>
                  <a:lnTo>
                    <a:pt x="38100" y="0"/>
                  </a:lnTo>
                  <a:lnTo>
                    <a:pt x="38100" y="3026410"/>
                  </a:lnTo>
                  <a:lnTo>
                    <a:pt x="0" y="3026410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048348" y="5163929"/>
            <a:ext cx="9029148" cy="4024521"/>
            <a:chOff x="0" y="0"/>
            <a:chExt cx="1242341" cy="55374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2341" cy="553743"/>
            </a:xfrm>
            <a:custGeom>
              <a:avLst/>
              <a:gdLst/>
              <a:ahLst/>
              <a:cxnLst/>
              <a:rect l="l" t="t" r="r" b="b"/>
              <a:pathLst>
                <a:path w="1242341" h="553743">
                  <a:moveTo>
                    <a:pt x="0" y="0"/>
                  </a:moveTo>
                  <a:lnTo>
                    <a:pt x="1242341" y="0"/>
                  </a:lnTo>
                  <a:lnTo>
                    <a:pt x="1242341" y="553743"/>
                  </a:lnTo>
                  <a:lnTo>
                    <a:pt x="0" y="553743"/>
                  </a:lnTo>
                  <a:close/>
                </a:path>
              </a:pathLst>
            </a:custGeom>
            <a:blipFill>
              <a:blip r:embed="rId3"/>
              <a:stretch>
                <a:fillRect l="-272" r="-272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984942" y="850554"/>
            <a:ext cx="10575579" cy="8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Card 4: Independent Samples t-test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4942" y="2936529"/>
            <a:ext cx="7850086" cy="90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This test assesses whether the average spending (Ticket Price) differs significantly between male and female visitors.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4942" y="4195172"/>
            <a:ext cx="2911973" cy="41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24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Hypothesis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4942" y="4767710"/>
            <a:ext cx="2911973" cy="171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193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Is there a statistically significant difference in mean spending based on Gender?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23064" y="5714705"/>
            <a:ext cx="2911973" cy="41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Group Statistics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4942" y="7058473"/>
            <a:ext cx="2911973" cy="41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24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Independent Test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4942" y="7631011"/>
            <a:ext cx="2911973" cy="131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193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[[Space for SPSS "Independent Samples Test" Table Screenshot]]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95338" y="4760912"/>
            <a:ext cx="3749873" cy="382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Independent Sample Test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041598" y="120323"/>
            <a:ext cx="2054709" cy="540769"/>
            <a:chOff x="0" y="0"/>
            <a:chExt cx="1388260" cy="36536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4"/>
              <a:stretch>
                <a:fillRect t="-68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41784" y="2561930"/>
            <a:ext cx="8081067" cy="726434"/>
            <a:chOff x="0" y="0"/>
            <a:chExt cx="10774756" cy="9685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74680" cy="968502"/>
            </a:xfrm>
            <a:custGeom>
              <a:avLst/>
              <a:gdLst/>
              <a:ahLst/>
              <a:cxnLst/>
              <a:rect l="l" t="t" r="r" b="b"/>
              <a:pathLst>
                <a:path w="10774680" h="968502">
                  <a:moveTo>
                    <a:pt x="0" y="484251"/>
                  </a:moveTo>
                  <a:cubicBezTo>
                    <a:pt x="0" y="216789"/>
                    <a:pt x="216789" y="0"/>
                    <a:pt x="484251" y="0"/>
                  </a:cubicBezTo>
                  <a:lnTo>
                    <a:pt x="10290429" y="0"/>
                  </a:lnTo>
                  <a:cubicBezTo>
                    <a:pt x="10557891" y="0"/>
                    <a:pt x="10774680" y="216789"/>
                    <a:pt x="10774680" y="484251"/>
                  </a:cubicBezTo>
                  <a:cubicBezTo>
                    <a:pt x="10774680" y="751713"/>
                    <a:pt x="10557891" y="968502"/>
                    <a:pt x="10290429" y="968502"/>
                  </a:cubicBezTo>
                  <a:lnTo>
                    <a:pt x="484251" y="968502"/>
                  </a:lnTo>
                  <a:cubicBezTo>
                    <a:pt x="216789" y="968629"/>
                    <a:pt x="0" y="751713"/>
                    <a:pt x="0" y="484251"/>
                  </a:cubicBezTo>
                  <a:close/>
                </a:path>
              </a:pathLst>
            </a:custGeom>
            <a:solidFill>
              <a:srgbClr val="F578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 descr="preencoded.png"/>
          <p:cNvSpPr/>
          <p:nvPr/>
        </p:nvSpPr>
        <p:spPr>
          <a:xfrm>
            <a:off x="4800752" y="2743495"/>
            <a:ext cx="363141" cy="363141"/>
          </a:xfrm>
          <a:custGeom>
            <a:avLst/>
            <a:gdLst/>
            <a:ahLst/>
            <a:cxnLst/>
            <a:rect l="l" t="t" r="r" b="b"/>
            <a:pathLst>
              <a:path w="363141" h="363141">
                <a:moveTo>
                  <a:pt x="0" y="0"/>
                </a:moveTo>
                <a:lnTo>
                  <a:pt x="363141" y="0"/>
                </a:lnTo>
                <a:lnTo>
                  <a:pt x="363141" y="363141"/>
                </a:lnTo>
                <a:lnTo>
                  <a:pt x="0" y="36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82" r="-128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41784" y="4954562"/>
            <a:ext cx="8081220" cy="726434"/>
            <a:chOff x="0" y="0"/>
            <a:chExt cx="10774959" cy="9685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74934" cy="968502"/>
            </a:xfrm>
            <a:custGeom>
              <a:avLst/>
              <a:gdLst/>
              <a:ahLst/>
              <a:cxnLst/>
              <a:rect l="l" t="t" r="r" b="b"/>
              <a:pathLst>
                <a:path w="10774934" h="968502">
                  <a:moveTo>
                    <a:pt x="0" y="484251"/>
                  </a:moveTo>
                  <a:cubicBezTo>
                    <a:pt x="0" y="216789"/>
                    <a:pt x="216789" y="0"/>
                    <a:pt x="484251" y="0"/>
                  </a:cubicBezTo>
                  <a:lnTo>
                    <a:pt x="10290683" y="0"/>
                  </a:lnTo>
                  <a:cubicBezTo>
                    <a:pt x="10558145" y="0"/>
                    <a:pt x="10774934" y="216789"/>
                    <a:pt x="10774934" y="484251"/>
                  </a:cubicBezTo>
                  <a:cubicBezTo>
                    <a:pt x="10774934" y="751713"/>
                    <a:pt x="10558145" y="968502"/>
                    <a:pt x="10290683" y="968502"/>
                  </a:cubicBezTo>
                  <a:lnTo>
                    <a:pt x="484251" y="968502"/>
                  </a:lnTo>
                  <a:cubicBezTo>
                    <a:pt x="216789" y="968629"/>
                    <a:pt x="0" y="751713"/>
                    <a:pt x="0" y="484251"/>
                  </a:cubicBezTo>
                  <a:close/>
                </a:path>
              </a:pathLst>
            </a:custGeom>
            <a:solidFill>
              <a:srgbClr val="92165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3123964" y="2743495"/>
            <a:ext cx="363141" cy="363141"/>
          </a:xfrm>
          <a:custGeom>
            <a:avLst/>
            <a:gdLst/>
            <a:ahLst/>
            <a:cxnLst/>
            <a:rect l="l" t="t" r="r" b="b"/>
            <a:pathLst>
              <a:path w="363141" h="363141">
                <a:moveTo>
                  <a:pt x="0" y="0"/>
                </a:moveTo>
                <a:lnTo>
                  <a:pt x="363141" y="0"/>
                </a:lnTo>
                <a:lnTo>
                  <a:pt x="363141" y="363141"/>
                </a:lnTo>
                <a:lnTo>
                  <a:pt x="0" y="3631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6921" r="-26924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1541315" y="2388061"/>
            <a:ext cx="5514050" cy="7448463"/>
            <a:chOff x="0" y="0"/>
            <a:chExt cx="745462" cy="10069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5462" cy="1006981"/>
            </a:xfrm>
            <a:custGeom>
              <a:avLst/>
              <a:gdLst/>
              <a:ahLst/>
              <a:cxnLst/>
              <a:rect l="l" t="t" r="r" b="b"/>
              <a:pathLst>
                <a:path w="745462" h="1006981">
                  <a:moveTo>
                    <a:pt x="0" y="0"/>
                  </a:moveTo>
                  <a:lnTo>
                    <a:pt x="745462" y="0"/>
                  </a:lnTo>
                  <a:lnTo>
                    <a:pt x="745462" y="1006981"/>
                  </a:lnTo>
                  <a:lnTo>
                    <a:pt x="0" y="1006981"/>
                  </a:lnTo>
                  <a:close/>
                </a:path>
              </a:pathLst>
            </a:custGeom>
            <a:blipFill>
              <a:blip r:embed="rId7"/>
              <a:stretch>
                <a:fillRect t="-35" b="-3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83929" y="3949303"/>
            <a:ext cx="7596778" cy="49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Visitor 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1784" y="701878"/>
            <a:ext cx="9691840" cy="79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Card 5: Linear Regression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3929" y="3511448"/>
            <a:ext cx="3578571" cy="39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Independent Variable (X)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3929" y="5904081"/>
            <a:ext cx="3358010" cy="39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Dependent Variable (Y)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3929" y="6341935"/>
            <a:ext cx="7596930" cy="49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Ticket Price / Spending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41315" y="1743166"/>
            <a:ext cx="4308285" cy="42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1" dirty="0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Key Regression Outputs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7672311"/>
            <a:ext cx="7056987" cy="1557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2375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2375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 "Age has a </a:t>
            </a:r>
            <a:r>
              <a:rPr lang="en-US" sz="2375">
                <a:solidFill>
                  <a:srgbClr val="FF5000"/>
                </a:solidFill>
                <a:latin typeface="Arimo"/>
                <a:ea typeface="Arimo"/>
                <a:cs typeface="Arimo"/>
                <a:sym typeface="Arimo"/>
              </a:rPr>
              <a:t>positive correlation</a:t>
            </a:r>
            <a:r>
              <a:rPr lang="en-US" sz="2375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 with Ticket Price. As age increases, spending is predicted to increase."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6041598" y="120323"/>
            <a:ext cx="2054709" cy="540769"/>
            <a:chOff x="0" y="0"/>
            <a:chExt cx="1388260" cy="3653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8"/>
              <a:stretch>
                <a:fillRect t="-68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13645" y="2149078"/>
            <a:ext cx="8244040" cy="1244203"/>
            <a:chOff x="0" y="0"/>
            <a:chExt cx="10992053" cy="1658938"/>
          </a:xfrm>
        </p:grpSpPr>
        <p:sp>
          <p:nvSpPr>
            <p:cNvPr id="7" name="Freeform 7"/>
            <p:cNvSpPr/>
            <p:nvPr/>
          </p:nvSpPr>
          <p:spPr>
            <a:xfrm>
              <a:off x="19050" y="19050"/>
              <a:ext cx="10954004" cy="1620901"/>
            </a:xfrm>
            <a:custGeom>
              <a:avLst/>
              <a:gdLst/>
              <a:ahLst/>
              <a:cxnLst/>
              <a:rect l="l" t="t" r="r" b="b"/>
              <a:pathLst>
                <a:path w="10954004" h="1620901">
                  <a:moveTo>
                    <a:pt x="0" y="182880"/>
                  </a:moveTo>
                  <a:cubicBezTo>
                    <a:pt x="0" y="81915"/>
                    <a:pt x="83566" y="0"/>
                    <a:pt x="186563" y="0"/>
                  </a:cubicBezTo>
                  <a:lnTo>
                    <a:pt x="10767441" y="0"/>
                  </a:lnTo>
                  <a:cubicBezTo>
                    <a:pt x="10870438" y="0"/>
                    <a:pt x="10954004" y="81915"/>
                    <a:pt x="10954004" y="182880"/>
                  </a:cubicBezTo>
                  <a:lnTo>
                    <a:pt x="10954004" y="1438021"/>
                  </a:lnTo>
                  <a:cubicBezTo>
                    <a:pt x="10954004" y="1538986"/>
                    <a:pt x="10870438" y="1620901"/>
                    <a:pt x="10767441" y="1620901"/>
                  </a:cubicBezTo>
                  <a:lnTo>
                    <a:pt x="186563" y="1620901"/>
                  </a:lnTo>
                  <a:cubicBezTo>
                    <a:pt x="83566" y="1620901"/>
                    <a:pt x="0" y="1538986"/>
                    <a:pt x="0" y="143802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10992104" cy="1659001"/>
            </a:xfrm>
            <a:custGeom>
              <a:avLst/>
              <a:gdLst/>
              <a:ahLst/>
              <a:cxnLst/>
              <a:rect l="l" t="t" r="r" b="b"/>
              <a:pathLst>
                <a:path w="10992104" h="1659001">
                  <a:moveTo>
                    <a:pt x="0" y="201930"/>
                  </a:moveTo>
                  <a:cubicBezTo>
                    <a:pt x="0" y="90043"/>
                    <a:pt x="92456" y="0"/>
                    <a:pt x="205613" y="0"/>
                  </a:cubicBezTo>
                  <a:lnTo>
                    <a:pt x="10786491" y="0"/>
                  </a:lnTo>
                  <a:lnTo>
                    <a:pt x="10786491" y="19050"/>
                  </a:lnTo>
                  <a:lnTo>
                    <a:pt x="10786491" y="0"/>
                  </a:lnTo>
                  <a:cubicBezTo>
                    <a:pt x="10899648" y="0"/>
                    <a:pt x="10992104" y="90043"/>
                    <a:pt x="10992104" y="201930"/>
                  </a:cubicBezTo>
                  <a:lnTo>
                    <a:pt x="10973054" y="201930"/>
                  </a:lnTo>
                  <a:lnTo>
                    <a:pt x="10992104" y="201930"/>
                  </a:lnTo>
                  <a:lnTo>
                    <a:pt x="10992104" y="1457071"/>
                  </a:lnTo>
                  <a:lnTo>
                    <a:pt x="10973054" y="1457071"/>
                  </a:lnTo>
                  <a:lnTo>
                    <a:pt x="10992104" y="1457071"/>
                  </a:lnTo>
                  <a:cubicBezTo>
                    <a:pt x="10992104" y="1568958"/>
                    <a:pt x="10899648" y="1659001"/>
                    <a:pt x="10786491" y="1659001"/>
                  </a:cubicBezTo>
                  <a:lnTo>
                    <a:pt x="10786491" y="1639951"/>
                  </a:lnTo>
                  <a:lnTo>
                    <a:pt x="10786491" y="1659001"/>
                  </a:lnTo>
                  <a:lnTo>
                    <a:pt x="205613" y="1659001"/>
                  </a:lnTo>
                  <a:lnTo>
                    <a:pt x="205613" y="1639951"/>
                  </a:lnTo>
                  <a:lnTo>
                    <a:pt x="205613" y="1659001"/>
                  </a:lnTo>
                  <a:cubicBezTo>
                    <a:pt x="92456" y="1659001"/>
                    <a:pt x="0" y="1568831"/>
                    <a:pt x="0" y="145707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457071"/>
                  </a:lnTo>
                  <a:lnTo>
                    <a:pt x="19050" y="1457071"/>
                  </a:lnTo>
                  <a:lnTo>
                    <a:pt x="38100" y="1457071"/>
                  </a:lnTo>
                  <a:cubicBezTo>
                    <a:pt x="38100" y="1547241"/>
                    <a:pt x="112776" y="1620901"/>
                    <a:pt x="205613" y="1620901"/>
                  </a:cubicBezTo>
                  <a:lnTo>
                    <a:pt x="10786491" y="1620901"/>
                  </a:lnTo>
                  <a:cubicBezTo>
                    <a:pt x="10879328" y="1620901"/>
                    <a:pt x="10954004" y="1547241"/>
                    <a:pt x="10954004" y="1457071"/>
                  </a:cubicBezTo>
                  <a:lnTo>
                    <a:pt x="10954004" y="201930"/>
                  </a:lnTo>
                  <a:cubicBezTo>
                    <a:pt x="10954004" y="111760"/>
                    <a:pt x="10879328" y="38100"/>
                    <a:pt x="10786491" y="38100"/>
                  </a:cubicBezTo>
                  <a:lnTo>
                    <a:pt x="205613" y="38100"/>
                  </a:lnTo>
                  <a:lnTo>
                    <a:pt x="205613" y="19050"/>
                  </a:lnTo>
                  <a:lnTo>
                    <a:pt x="205613" y="38100"/>
                  </a:lnTo>
                  <a:cubicBezTo>
                    <a:pt x="112776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99357" y="2163366"/>
            <a:ext cx="114300" cy="1215628"/>
            <a:chOff x="0" y="0"/>
            <a:chExt cx="152400" cy="1620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400" cy="1620901"/>
            </a:xfrm>
            <a:custGeom>
              <a:avLst/>
              <a:gdLst/>
              <a:ahLst/>
              <a:cxnLst/>
              <a:rect l="l" t="t" r="r" b="b"/>
              <a:pathLst>
                <a:path w="152400" h="162090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544701"/>
                  </a:lnTo>
                  <a:cubicBezTo>
                    <a:pt x="152400" y="1586738"/>
                    <a:pt x="118237" y="1620901"/>
                    <a:pt x="76200" y="1620901"/>
                  </a:cubicBezTo>
                  <a:cubicBezTo>
                    <a:pt x="34163" y="1620901"/>
                    <a:pt x="0" y="1586738"/>
                    <a:pt x="0" y="1544701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230173" y="2149078"/>
            <a:ext cx="8244183" cy="1244203"/>
            <a:chOff x="0" y="0"/>
            <a:chExt cx="10992244" cy="1658938"/>
          </a:xfrm>
        </p:grpSpPr>
        <p:sp>
          <p:nvSpPr>
            <p:cNvPr id="12" name="Freeform 12"/>
            <p:cNvSpPr/>
            <p:nvPr/>
          </p:nvSpPr>
          <p:spPr>
            <a:xfrm>
              <a:off x="19050" y="19050"/>
              <a:ext cx="10954131" cy="1620901"/>
            </a:xfrm>
            <a:custGeom>
              <a:avLst/>
              <a:gdLst/>
              <a:ahLst/>
              <a:cxnLst/>
              <a:rect l="l" t="t" r="r" b="b"/>
              <a:pathLst>
                <a:path w="10954131" h="1620901">
                  <a:moveTo>
                    <a:pt x="0" y="182880"/>
                  </a:moveTo>
                  <a:cubicBezTo>
                    <a:pt x="0" y="81915"/>
                    <a:pt x="83566" y="0"/>
                    <a:pt x="186563" y="0"/>
                  </a:cubicBezTo>
                  <a:lnTo>
                    <a:pt x="10767568" y="0"/>
                  </a:lnTo>
                  <a:cubicBezTo>
                    <a:pt x="10870565" y="0"/>
                    <a:pt x="10954131" y="81915"/>
                    <a:pt x="10954131" y="182880"/>
                  </a:cubicBezTo>
                  <a:lnTo>
                    <a:pt x="10954131" y="1438021"/>
                  </a:lnTo>
                  <a:cubicBezTo>
                    <a:pt x="10954131" y="1538986"/>
                    <a:pt x="10870565" y="1620901"/>
                    <a:pt x="10767568" y="1620901"/>
                  </a:cubicBezTo>
                  <a:lnTo>
                    <a:pt x="186563" y="1620901"/>
                  </a:lnTo>
                  <a:cubicBezTo>
                    <a:pt x="83566" y="1620901"/>
                    <a:pt x="0" y="1538986"/>
                    <a:pt x="0" y="143802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0992231" cy="1659001"/>
            </a:xfrm>
            <a:custGeom>
              <a:avLst/>
              <a:gdLst/>
              <a:ahLst/>
              <a:cxnLst/>
              <a:rect l="l" t="t" r="r" b="b"/>
              <a:pathLst>
                <a:path w="10992231" h="1659001">
                  <a:moveTo>
                    <a:pt x="0" y="201930"/>
                  </a:moveTo>
                  <a:cubicBezTo>
                    <a:pt x="0" y="90043"/>
                    <a:pt x="92456" y="0"/>
                    <a:pt x="205613" y="0"/>
                  </a:cubicBezTo>
                  <a:lnTo>
                    <a:pt x="10786618" y="0"/>
                  </a:lnTo>
                  <a:lnTo>
                    <a:pt x="10786618" y="19050"/>
                  </a:lnTo>
                  <a:lnTo>
                    <a:pt x="10786618" y="0"/>
                  </a:lnTo>
                  <a:cubicBezTo>
                    <a:pt x="10899775" y="0"/>
                    <a:pt x="10992231" y="90043"/>
                    <a:pt x="10992231" y="201930"/>
                  </a:cubicBezTo>
                  <a:lnTo>
                    <a:pt x="10973181" y="201930"/>
                  </a:lnTo>
                  <a:lnTo>
                    <a:pt x="10992231" y="201930"/>
                  </a:lnTo>
                  <a:lnTo>
                    <a:pt x="10992231" y="1457071"/>
                  </a:lnTo>
                  <a:lnTo>
                    <a:pt x="10973181" y="1457071"/>
                  </a:lnTo>
                  <a:lnTo>
                    <a:pt x="10992231" y="1457071"/>
                  </a:lnTo>
                  <a:cubicBezTo>
                    <a:pt x="10992231" y="1568958"/>
                    <a:pt x="10899775" y="1659001"/>
                    <a:pt x="10786618" y="1659001"/>
                  </a:cubicBezTo>
                  <a:lnTo>
                    <a:pt x="10786618" y="1639951"/>
                  </a:lnTo>
                  <a:lnTo>
                    <a:pt x="10786618" y="1659001"/>
                  </a:lnTo>
                  <a:lnTo>
                    <a:pt x="205613" y="1659001"/>
                  </a:lnTo>
                  <a:lnTo>
                    <a:pt x="205613" y="1639951"/>
                  </a:lnTo>
                  <a:lnTo>
                    <a:pt x="205613" y="1659001"/>
                  </a:lnTo>
                  <a:cubicBezTo>
                    <a:pt x="92456" y="1659001"/>
                    <a:pt x="0" y="1568831"/>
                    <a:pt x="0" y="145707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457071"/>
                  </a:lnTo>
                  <a:lnTo>
                    <a:pt x="19050" y="1457071"/>
                  </a:lnTo>
                  <a:lnTo>
                    <a:pt x="38100" y="1457071"/>
                  </a:lnTo>
                  <a:cubicBezTo>
                    <a:pt x="38100" y="1547241"/>
                    <a:pt x="112776" y="1620901"/>
                    <a:pt x="205613" y="1620901"/>
                  </a:cubicBezTo>
                  <a:lnTo>
                    <a:pt x="10786618" y="1620901"/>
                  </a:lnTo>
                  <a:cubicBezTo>
                    <a:pt x="10879455" y="1620901"/>
                    <a:pt x="10954131" y="1547241"/>
                    <a:pt x="10954131" y="1457071"/>
                  </a:cubicBezTo>
                  <a:lnTo>
                    <a:pt x="10954131" y="201930"/>
                  </a:lnTo>
                  <a:cubicBezTo>
                    <a:pt x="10954131" y="111760"/>
                    <a:pt x="10879455" y="38100"/>
                    <a:pt x="10786618" y="38100"/>
                  </a:cubicBezTo>
                  <a:lnTo>
                    <a:pt x="205613" y="38100"/>
                  </a:lnTo>
                  <a:lnTo>
                    <a:pt x="205613" y="19050"/>
                  </a:lnTo>
                  <a:lnTo>
                    <a:pt x="205613" y="38100"/>
                  </a:lnTo>
                  <a:cubicBezTo>
                    <a:pt x="112776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215885" y="2163366"/>
            <a:ext cx="114300" cy="1215628"/>
            <a:chOff x="0" y="0"/>
            <a:chExt cx="152400" cy="16208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400" cy="1620901"/>
            </a:xfrm>
            <a:custGeom>
              <a:avLst/>
              <a:gdLst/>
              <a:ahLst/>
              <a:cxnLst/>
              <a:rect l="l" t="t" r="r" b="b"/>
              <a:pathLst>
                <a:path w="152400" h="162090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544701"/>
                  </a:lnTo>
                  <a:cubicBezTo>
                    <a:pt x="152400" y="1586738"/>
                    <a:pt x="118237" y="1620901"/>
                    <a:pt x="76200" y="1620901"/>
                  </a:cubicBezTo>
                  <a:cubicBezTo>
                    <a:pt x="34163" y="1620901"/>
                    <a:pt x="0" y="1586738"/>
                    <a:pt x="0" y="1544701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27932" y="3831431"/>
            <a:ext cx="28575" cy="899665"/>
            <a:chOff x="0" y="0"/>
            <a:chExt cx="38100" cy="11995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" cy="1199515"/>
            </a:xfrm>
            <a:custGeom>
              <a:avLst/>
              <a:gdLst/>
              <a:ahLst/>
              <a:cxnLst/>
              <a:rect l="l" t="t" r="r" b="b"/>
              <a:pathLst>
                <a:path w="38100" h="1199515">
                  <a:moveTo>
                    <a:pt x="0" y="0"/>
                  </a:moveTo>
                  <a:lnTo>
                    <a:pt x="38100" y="0"/>
                  </a:lnTo>
                  <a:lnTo>
                    <a:pt x="38100" y="1199515"/>
                  </a:lnTo>
                  <a:lnTo>
                    <a:pt x="0" y="1199515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1111065" y="3831431"/>
            <a:ext cx="6358528" cy="2477986"/>
            <a:chOff x="0" y="0"/>
            <a:chExt cx="8478037" cy="33039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78012" cy="3303905"/>
            </a:xfrm>
            <a:custGeom>
              <a:avLst/>
              <a:gdLst/>
              <a:ahLst/>
              <a:cxnLst/>
              <a:rect l="l" t="t" r="r" b="b"/>
              <a:pathLst>
                <a:path w="8478012" h="3303905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8236712" y="0"/>
                  </a:lnTo>
                  <a:cubicBezTo>
                    <a:pt x="8369935" y="0"/>
                    <a:pt x="8478012" y="108077"/>
                    <a:pt x="8478012" y="241300"/>
                  </a:cubicBezTo>
                  <a:lnTo>
                    <a:pt x="8478012" y="3062605"/>
                  </a:lnTo>
                  <a:cubicBezTo>
                    <a:pt x="8478012" y="3195828"/>
                    <a:pt x="8369935" y="3303905"/>
                    <a:pt x="8236712" y="3303905"/>
                  </a:cubicBezTo>
                  <a:lnTo>
                    <a:pt x="241300" y="3303905"/>
                  </a:lnTo>
                  <a:cubicBezTo>
                    <a:pt x="108077" y="3303905"/>
                    <a:pt x="0" y="3195828"/>
                    <a:pt x="0" y="3062605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1111065" y="3831431"/>
            <a:ext cx="6358528" cy="1238993"/>
            <a:chOff x="0" y="0"/>
            <a:chExt cx="8478037" cy="1651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478012" cy="1651889"/>
            </a:xfrm>
            <a:custGeom>
              <a:avLst/>
              <a:gdLst/>
              <a:ahLst/>
              <a:cxnLst/>
              <a:rect l="l" t="t" r="r" b="b"/>
              <a:pathLst>
                <a:path w="8478012" h="1651889">
                  <a:moveTo>
                    <a:pt x="0" y="241300"/>
                  </a:moveTo>
                  <a:cubicBezTo>
                    <a:pt x="0" y="108077"/>
                    <a:pt x="108077" y="0"/>
                    <a:pt x="241300" y="0"/>
                  </a:cubicBezTo>
                  <a:lnTo>
                    <a:pt x="8236712" y="0"/>
                  </a:lnTo>
                  <a:cubicBezTo>
                    <a:pt x="8369935" y="0"/>
                    <a:pt x="8478012" y="108077"/>
                    <a:pt x="8478012" y="241300"/>
                  </a:cubicBezTo>
                  <a:lnTo>
                    <a:pt x="8478012" y="1410589"/>
                  </a:lnTo>
                  <a:cubicBezTo>
                    <a:pt x="8478012" y="1543812"/>
                    <a:pt x="8369935" y="1651889"/>
                    <a:pt x="8236712" y="1651889"/>
                  </a:cubicBezTo>
                  <a:lnTo>
                    <a:pt x="241300" y="1651889"/>
                  </a:lnTo>
                  <a:cubicBezTo>
                    <a:pt x="108077" y="1651889"/>
                    <a:pt x="0" y="1543812"/>
                    <a:pt x="0" y="1410589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1111065" y="5070424"/>
            <a:ext cx="6358528" cy="1238993"/>
            <a:chOff x="0" y="0"/>
            <a:chExt cx="8478037" cy="16519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478012" cy="1652016"/>
            </a:xfrm>
            <a:custGeom>
              <a:avLst/>
              <a:gdLst/>
              <a:ahLst/>
              <a:cxnLst/>
              <a:rect l="l" t="t" r="r" b="b"/>
              <a:pathLst>
                <a:path w="8478012" h="1652016">
                  <a:moveTo>
                    <a:pt x="0" y="0"/>
                  </a:moveTo>
                  <a:lnTo>
                    <a:pt x="8478012" y="0"/>
                  </a:lnTo>
                  <a:lnTo>
                    <a:pt x="8478012" y="1652016"/>
                  </a:lnTo>
                  <a:lnTo>
                    <a:pt x="0" y="1652016"/>
                  </a:ln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1111065" y="5070424"/>
            <a:ext cx="6358528" cy="28575"/>
            <a:chOff x="0" y="0"/>
            <a:chExt cx="8478037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478012" cy="38100"/>
            </a:xfrm>
            <a:custGeom>
              <a:avLst/>
              <a:gdLst/>
              <a:ahLst/>
              <a:cxnLst/>
              <a:rect l="l" t="t" r="r" b="b"/>
              <a:pathLst>
                <a:path w="847801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458962" y="0"/>
                  </a:lnTo>
                  <a:cubicBezTo>
                    <a:pt x="8469503" y="0"/>
                    <a:pt x="8478012" y="8509"/>
                    <a:pt x="8478012" y="19050"/>
                  </a:cubicBezTo>
                  <a:cubicBezTo>
                    <a:pt x="8478012" y="29591"/>
                    <a:pt x="8469503" y="38100"/>
                    <a:pt x="845896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312281" y="4264506"/>
            <a:ext cx="5880183" cy="5828726"/>
            <a:chOff x="0" y="0"/>
            <a:chExt cx="910994" cy="90302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0994" cy="903022"/>
            </a:xfrm>
            <a:custGeom>
              <a:avLst/>
              <a:gdLst/>
              <a:ahLst/>
              <a:cxnLst/>
              <a:rect l="l" t="t" r="r" b="b"/>
              <a:pathLst>
                <a:path w="910994" h="903022">
                  <a:moveTo>
                    <a:pt x="0" y="0"/>
                  </a:moveTo>
                  <a:lnTo>
                    <a:pt x="910994" y="0"/>
                  </a:lnTo>
                  <a:lnTo>
                    <a:pt x="910994" y="903022"/>
                  </a:lnTo>
                  <a:lnTo>
                    <a:pt x="0" y="903022"/>
                  </a:lnTo>
                  <a:close/>
                </a:path>
              </a:pathLst>
            </a:custGeom>
            <a:blipFill>
              <a:blip r:embed="rId3"/>
              <a:stretch>
                <a:fillRect t="-21231" r="-23771" b="-1896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827932" y="602904"/>
            <a:ext cx="9230468" cy="58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 dirty="0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Card 6: Predictive Modelling (</a:t>
            </a:r>
            <a:r>
              <a:rPr lang="en-US" sz="3937" b="1" dirty="0" err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BigML</a:t>
            </a:r>
            <a:r>
              <a:rPr lang="en-US" sz="3937" b="1" dirty="0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7932" y="1321146"/>
            <a:ext cx="7477868" cy="466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1" dirty="0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Decision Tree: Predicting Ride Choice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295" y="2364429"/>
            <a:ext cx="2513705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3295" y="2761059"/>
            <a:ext cx="7670454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Use Age and Gender to predict which ride a visitor will choose.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823" y="2364429"/>
            <a:ext cx="2513705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Tool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59823" y="2761059"/>
            <a:ext cx="7670597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BigML Decision Tree/Ensemble Learning.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9455" y="3812381"/>
            <a:ext cx="5746852" cy="39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Visual Output: Decision Tree or Sunburst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12128" y="4003919"/>
            <a:ext cx="2513705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Finding 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312128" y="4481065"/>
            <a:ext cx="5956402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Kids under 10 mostly prefer </a:t>
            </a:r>
            <a:r>
              <a:rPr lang="en-US" sz="156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Toy Trains</a:t>
            </a:r>
            <a:r>
              <a:rPr lang="en-US" sz="156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12128" y="5242922"/>
            <a:ext cx="2513705" cy="34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Finding 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12128" y="5720058"/>
            <a:ext cx="5956402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Teenagers (13-18) show preference for the </a:t>
            </a:r>
            <a:r>
              <a:rPr lang="en-US" sz="156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3D Cinema</a:t>
            </a:r>
            <a:r>
              <a:rPr lang="en-US" sz="156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11065" y="6468961"/>
            <a:ext cx="6358528" cy="709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Decision Trees offer clear, interpretable rules for market segmentation.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6041598" y="120323"/>
            <a:ext cx="2054709" cy="540769"/>
            <a:chOff x="0" y="0"/>
            <a:chExt cx="1388260" cy="36536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4"/>
              <a:stretch>
                <a:fillRect t="-68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956520"/>
            <a:ext cx="8456562" cy="620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1" dirty="0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Recommendations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1978076"/>
            <a:ext cx="531609" cy="531609"/>
          </a:xfrm>
          <a:custGeom>
            <a:avLst/>
            <a:gdLst/>
            <a:ahLst/>
            <a:cxnLst/>
            <a:rect l="l" t="t" r="r" b="b"/>
            <a:pathLst>
              <a:path w="531609" h="531609">
                <a:moveTo>
                  <a:pt x="0" y="0"/>
                </a:moveTo>
                <a:lnTo>
                  <a:pt x="531610" y="0"/>
                </a:lnTo>
                <a:lnTo>
                  <a:pt x="531610" y="531609"/>
                </a:lnTo>
                <a:lnTo>
                  <a:pt x="0" y="531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678" r="-267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38" y="2756449"/>
            <a:ext cx="2658066" cy="3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High Satisfaction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149498"/>
            <a:ext cx="9445523" cy="76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The One-Sample t-test confirms Shishu Mela is performing well in terms of overall visitor satisfaction.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92238" y="4340866"/>
            <a:ext cx="531609" cy="531609"/>
          </a:xfrm>
          <a:custGeom>
            <a:avLst/>
            <a:gdLst/>
            <a:ahLst/>
            <a:cxnLst/>
            <a:rect l="l" t="t" r="r" b="b"/>
            <a:pathLst>
              <a:path w="531609" h="531609">
                <a:moveTo>
                  <a:pt x="0" y="0"/>
                </a:moveTo>
                <a:lnTo>
                  <a:pt x="531610" y="0"/>
                </a:lnTo>
                <a:lnTo>
                  <a:pt x="531610" y="531610"/>
                </a:lnTo>
                <a:lnTo>
                  <a:pt x="0" y="531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92238" y="5119240"/>
            <a:ext cx="2658066" cy="3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Marketing Focus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512298"/>
            <a:ext cx="9445523" cy="76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Based on the Regression analysis, marketing campaigns should target the </a:t>
            </a:r>
            <a:r>
              <a:rPr lang="en-US" sz="1625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[Target Age Group found in Regression]</a:t>
            </a:r>
            <a:r>
              <a:rPr lang="en-US" sz="1625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 for maximum revenue impact.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238" y="6703666"/>
            <a:ext cx="531609" cy="531609"/>
          </a:xfrm>
          <a:custGeom>
            <a:avLst/>
            <a:gdLst/>
            <a:ahLst/>
            <a:cxnLst/>
            <a:rect l="l" t="t" r="r" b="b"/>
            <a:pathLst>
              <a:path w="531609" h="531609">
                <a:moveTo>
                  <a:pt x="0" y="0"/>
                </a:moveTo>
                <a:lnTo>
                  <a:pt x="531610" y="0"/>
                </a:lnTo>
                <a:lnTo>
                  <a:pt x="531610" y="531610"/>
                </a:lnTo>
                <a:lnTo>
                  <a:pt x="0" y="5316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238" y="7482040"/>
            <a:ext cx="2658066" cy="3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Actionable Insights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7875089"/>
            <a:ext cx="9445523" cy="76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Age is a strong predictor of spending, while ride choice is strongly segmented by age groups (Decision Tree).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114037" y="0"/>
            <a:ext cx="7173963" cy="10559408"/>
            <a:chOff x="0" y="0"/>
            <a:chExt cx="728574" cy="10723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8574" cy="1072393"/>
            </a:xfrm>
            <a:custGeom>
              <a:avLst/>
              <a:gdLst/>
              <a:ahLst/>
              <a:cxnLst/>
              <a:rect l="l" t="t" r="r" b="b"/>
              <a:pathLst>
                <a:path w="728574" h="1072393">
                  <a:moveTo>
                    <a:pt x="0" y="0"/>
                  </a:moveTo>
                  <a:lnTo>
                    <a:pt x="728574" y="0"/>
                  </a:lnTo>
                  <a:lnTo>
                    <a:pt x="728574" y="1072393"/>
                  </a:lnTo>
                  <a:lnTo>
                    <a:pt x="0" y="1072393"/>
                  </a:lnTo>
                  <a:close/>
                </a:path>
              </a:pathLst>
            </a:custGeom>
            <a:blipFill>
              <a:blip r:embed="rId9"/>
              <a:stretch>
                <a:fillRect t="-4523" b="-452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5987" y="139526"/>
            <a:ext cx="2054709" cy="540769"/>
            <a:chOff x="0" y="0"/>
            <a:chExt cx="1388260" cy="3653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10"/>
              <a:stretch>
                <a:fillRect t="-68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2042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387403" y="3232004"/>
            <a:ext cx="11513195" cy="274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7"/>
              </a:lnSpc>
            </a:pPr>
            <a:r>
              <a:rPr lang="en-US" sz="1756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Thank You!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46501" y="363211"/>
            <a:ext cx="2528597" cy="665489"/>
            <a:chOff x="0" y="0"/>
            <a:chExt cx="1388260" cy="3653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88260" cy="365369"/>
            </a:xfrm>
            <a:custGeom>
              <a:avLst/>
              <a:gdLst/>
              <a:ahLst/>
              <a:cxnLst/>
              <a:rect l="l" t="t" r="r" b="b"/>
              <a:pathLst>
                <a:path w="1388260" h="365369">
                  <a:moveTo>
                    <a:pt x="0" y="0"/>
                  </a:moveTo>
                  <a:lnTo>
                    <a:pt x="1388260" y="0"/>
                  </a:lnTo>
                  <a:lnTo>
                    <a:pt x="1388260" y="365369"/>
                  </a:lnTo>
                  <a:lnTo>
                    <a:pt x="0" y="365369"/>
                  </a:lnTo>
                  <a:close/>
                </a:path>
              </a:pathLst>
            </a:custGeom>
            <a:blipFill>
              <a:blip r:embed="rId3"/>
              <a:stretch>
                <a:fillRect t="-344" b="-34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425</Words>
  <Application>Microsoft Office PowerPoint</Application>
  <PresentationFormat>Custom</PresentationFormat>
  <Paragraphs>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Arimo</vt:lpstr>
      <vt:lpstr>Arimo Italics</vt:lpstr>
      <vt:lpstr>Arimo Bold</vt:lpstr>
      <vt:lpstr>Calibri</vt:lpstr>
      <vt:lpstr>Arimo Bold Italics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Statistical-Analysis-of-Shishu-Mela-Operations.pptx</dc:title>
  <dc:creator>Jahid Hasan</dc:creator>
  <cp:lastModifiedBy>Jahid Hasan</cp:lastModifiedBy>
  <cp:revision>2</cp:revision>
  <dcterms:created xsi:type="dcterms:W3CDTF">2006-08-16T00:00:00Z</dcterms:created>
  <dcterms:modified xsi:type="dcterms:W3CDTF">2026-01-01T16:57:34Z</dcterms:modified>
  <dc:identifier>DAG8cG9elEs</dc:identifier>
</cp:coreProperties>
</file>